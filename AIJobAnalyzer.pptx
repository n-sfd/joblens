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7772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AI Job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803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A5B4FC"/>
                </a:solidFill>
                <a:latin typeface="Calibri"/>
              </a:rPr>
              <a:t>Your AI-powered career co-pilot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Resume Analysis  ·  Job Tracking  ·  Job Matching  ·  Cover Letter Generation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3657600" cy="5029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989320"/>
            <a:ext cx="16002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598932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382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Next.js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5989320"/>
            <a:ext cx="16002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86000" y="598932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382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60350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5989320"/>
            <a:ext cx="16002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0" y="598932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382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60350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Claude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5989320"/>
            <a:ext cx="16002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598932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382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60350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Tailwind CSS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5989320"/>
            <a:ext cx="16002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598932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382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60350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SQLite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5989320"/>
            <a:ext cx="1600200" cy="5029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0" y="5989320"/>
            <a:ext cx="1600200" cy="502920"/>
          </a:xfrm>
          <a:prstGeom prst="roundRect">
            <a:avLst>
              <a:gd name="adj" fmla="val 8000"/>
            </a:avLst>
          </a:prstGeom>
          <a:solidFill>
            <a:srgbClr val="382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603504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Vercel · Render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Calibri"/>
              </a:rPr>
              <a:t>Job hunting is painful — and the odds are stacked against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81912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2704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ATS Rejection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5E"/>
                </a:solidFill>
                <a:latin typeface="Calibri"/>
              </a:rPr>
              <a:t>Up to 75% of resumes are rejected by automated
tracking systems before a human ever reads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581912"/>
            <a:ext cx="292608" cy="29260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152704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Zero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5E"/>
                </a:solidFill>
                <a:latin typeface="Calibri"/>
              </a:rPr>
              <a:t>Applicants have no idea how well they fit a role.
Applying blind wastes months of effort.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4005072"/>
            <a:ext cx="292608" cy="29260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9502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Cover Letter Fatigue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5E"/>
                </a:solidFill>
                <a:latin typeface="Calibri"/>
              </a:rPr>
              <a:t>Writing a tailored cover letter for every application
takes 30–60 minutes per job.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394960" cy="21488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0" y="4005072"/>
            <a:ext cx="292608" cy="29260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95020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Calibri"/>
              </a:rPr>
              <a:t>Tracking Chaos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34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5E"/>
                </a:solidFill>
                <a:latin typeface="Calibri"/>
              </a:rPr>
              <a:t>Managing dozens of applications in spreadsheets
is error-prone and demoralizing.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Calibri"/>
              </a:rPr>
              <a:t>Modern, production-ready tooling — deployed on free tiers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5B4FC"/>
                </a:solidFill>
                <a:latin typeface="Calibri"/>
              </a:rPr>
              <a:t>How the pieces connect end-to-end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117957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Feature 1 ·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Calibri"/>
              </a:rPr>
              <a:t>A command center for the entire job search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44752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Stats Cards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733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A5E"/>
                </a:solidFill>
                <a:latin typeface="Calibri"/>
              </a:rPr>
              <a:t>Total, Applied, Interviewing, Offers, Rejected — live counts from the API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395728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225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Recent 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2432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A5E"/>
                </a:solidFill>
                <a:latin typeface="Calibri"/>
              </a:rPr>
              <a:t>Latest 5 entries with status badges, link to full tracker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346704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73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AI Activity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7530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A5E"/>
                </a:solidFill>
                <a:latin typeface="Calibri"/>
              </a:rPr>
              <a:t>Timestamped history of every Claude action, persisted in localStorage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297680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245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Quick Actions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A5E"/>
                </a:solidFill>
                <a:latin typeface="Calibri"/>
              </a:rPr>
              <a:t>One-click shortcuts to all four AI tools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5248656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1755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Pro Tip Card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7725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4A5E"/>
                </a:solidFill>
                <a:latin typeface="Calibri"/>
              </a:rPr>
              <a:t>Contextual advice surfaced on the dashboard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97280"/>
            <a:ext cx="5486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Feature 2 · Resume 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Calibri"/>
              </a:rPr>
              <a:t>Upload once → get a full ATS audit powered by Claude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43000"/>
            <a:ext cx="5486400" cy="31089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4160520"/>
            <a:ext cx="2697480" cy="11704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423367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7648" y="4507992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A5E"/>
                </a:solidFill>
                <a:latin typeface="Calibri"/>
              </a:rPr>
              <a:t>Clear contact info, strong technical skills, quantified achievements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4160520"/>
            <a:ext cx="2697480" cy="11704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2288" y="423367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Weaknesses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4507992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A5E"/>
                </a:solidFill>
                <a:latin typeface="Calibri"/>
              </a:rPr>
              <a:t>Missing summary, sparse keywords, formatting inconsistencies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440679"/>
            <a:ext cx="2697480" cy="11704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551383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5788151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A5E"/>
                </a:solidFill>
                <a:latin typeface="Calibri"/>
              </a:rPr>
              <a:t>High: Add professional summary  ·  Medium: Quantify more bullets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440679"/>
            <a:ext cx="2697480" cy="1170432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5513831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Missing Keywords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2288" y="5788151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4A5E"/>
                </a:solidFill>
                <a:latin typeface="Calibri"/>
              </a:rPr>
              <a:t>Docker · Kubernetes · CI/CD · Agile · REST APIs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How It Works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1837944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1801368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17830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5E"/>
                </a:solidFill>
                <a:latin typeface="Calibri"/>
              </a:rPr>
              <a:t>Parse PDF / DOCX / TXT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2532888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2496312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47802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5E"/>
                </a:solidFill>
                <a:latin typeface="Calibri"/>
              </a:rPr>
              <a:t>Extract experience &amp; education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3227832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3191256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1729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5E"/>
                </a:solidFill>
                <a:latin typeface="Calibri"/>
              </a:rPr>
              <a:t>Identify technical + soft skills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3922776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3886200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86791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5E"/>
                </a:solidFill>
                <a:latin typeface="Calibri"/>
              </a:rPr>
              <a:t>Evaluate ATS compatibility</a:t>
            </a:r>
          </a:p>
        </p:txBody>
      </p:sp>
      <p:sp>
        <p:nvSpPr>
          <p:cNvPr id="32" name="Oval 31"/>
          <p:cNvSpPr/>
          <p:nvPr/>
        </p:nvSpPr>
        <p:spPr>
          <a:xfrm>
            <a:off x="457200" y="4617720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4581144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56285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5E"/>
                </a:solidFill>
                <a:latin typeface="Calibri"/>
              </a:rPr>
              <a:t>Calculate 3 scores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" y="5312664"/>
            <a:ext cx="201168" cy="201168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5276088"/>
            <a:ext cx="2011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2578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4A5E"/>
                </a:solidFill>
                <a:latin typeface="Calibri"/>
              </a:rPr>
              <a:t>Generate prioritized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Feature 3 · Job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Calibri"/>
              </a:rPr>
              <a:t>Full CRUD application — track every application in one place</a:t>
            </a:r>
          </a:p>
        </p:txBody>
      </p:sp>
      <p:sp>
        <p:nvSpPr>
          <p:cNvPr id="6" name="Oval 5"/>
          <p:cNvSpPr/>
          <p:nvPr/>
        </p:nvSpPr>
        <p:spPr>
          <a:xfrm>
            <a:off x="411480" y="1399032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Add / Edit / Delete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Full modal form: company, role, status, location, URL, salary, notes, dates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2267712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Status Filter Tabs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All · Applied · Interviewing · Offer · Rejected · Saved with live counts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3136391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6323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Inline Status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59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Click the status badge in the table row to change it instantly</a:t>
            </a:r>
          </a:p>
        </p:txBody>
      </p:sp>
      <p:sp>
        <p:nvSpPr>
          <p:cNvPr id="15" name="Oval 14"/>
          <p:cNvSpPr/>
          <p:nvPr/>
        </p:nvSpPr>
        <p:spPr>
          <a:xfrm>
            <a:off x="411480" y="4005072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3192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Bulk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Select multiple rows → delete in one action</a:t>
            </a:r>
          </a:p>
        </p:txBody>
      </p:sp>
      <p:sp>
        <p:nvSpPr>
          <p:cNvPr id="18" name="Oval 17"/>
          <p:cNvSpPr/>
          <p:nvPr/>
        </p:nvSpPr>
        <p:spPr>
          <a:xfrm>
            <a:off x="411480" y="4873752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Demo Data Loader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Seed realistic sample applications with one click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5742432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692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Deep Links to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43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Launch Job Matcher or Cover Letter Generator from any row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5778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Feature 4 · Job Matcher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Calibri"/>
              </a:rPr>
              <a:t>Paste resume + job description → Claude scores the fit and tells you exactly what to fix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325880"/>
            <a:ext cx="146304" cy="32918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2588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Match Score &amp; Likelihood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0–100% score with Low / Medium / High likelihood badge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2194560"/>
            <a:ext cx="146304" cy="329184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Matching vs Missing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780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Color-coded skill tags — green matched, red missing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063239"/>
            <a:ext cx="146304" cy="329184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063239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Experience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46703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Side-by-side matching experience and gap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931920"/>
            <a:ext cx="146304" cy="32918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93192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Tailoring Suggestions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21538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Section-by-section resume advice tied to the JD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4800600"/>
            <a:ext cx="146304" cy="329184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80060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891B2"/>
                </a:solidFill>
                <a:latin typeface="Calibri"/>
              </a:rPr>
              <a:t>Better Bullets  (AI)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08406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Rewrites your resume bullets to match the JD keywords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5669280"/>
            <a:ext cx="146304" cy="32918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669280"/>
            <a:ext cx="4937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Calibri"/>
              </a:rPr>
              <a:t>Interview Prep  (AI)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95274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Behavioral/technical/situational Q&amp;A accordion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51560"/>
            <a:ext cx="54864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Feature 5 · Cover Letter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Calibri"/>
              </a:rPr>
              <a:t>AI-written, perfectly tailored — copy, download, or save to your application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219456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246120"/>
            <a:ext cx="5486400" cy="338328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11480" y="1389888"/>
            <a:ext cx="164592" cy="16459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5 Tone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09344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Professional · Enthusiastic · Concise · Creative · Storytelling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2276856"/>
            <a:ext cx="164592" cy="16459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12848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Context Pre-fill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96312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Resume and JD auto-loaded from localStorage — no re-typing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" y="3163823"/>
            <a:ext cx="164592" cy="16459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99815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Job Selector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83279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Pick any saved application from the tracker to pre-fill details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050792"/>
            <a:ext cx="164592" cy="16459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86784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Copy / Download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70248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Clipboard copy or .txt download with one click</a:t>
            </a:r>
          </a:p>
        </p:txBody>
      </p:sp>
      <p:sp>
        <p:nvSpPr>
          <p:cNvPr id="20" name="Oval 19"/>
          <p:cNvSpPr/>
          <p:nvPr/>
        </p:nvSpPr>
        <p:spPr>
          <a:xfrm>
            <a:off x="411480" y="4937760"/>
            <a:ext cx="164592" cy="16459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73752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Regenerate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57216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Instant re-generation with a different tone via shortcut buttons</a:t>
            </a:r>
          </a:p>
        </p:txBody>
      </p:sp>
      <p:sp>
        <p:nvSpPr>
          <p:cNvPr id="23" name="Oval 22"/>
          <p:cNvSpPr/>
          <p:nvPr/>
        </p:nvSpPr>
        <p:spPr>
          <a:xfrm>
            <a:off x="411480" y="5824728"/>
            <a:ext cx="164592" cy="164592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Save to 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44184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Appends letter snippet to the job's notes in the tracker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AI Agent UX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5B4FC"/>
                </a:solidFill>
                <a:latin typeface="Calibri"/>
              </a:rPr>
              <a:t>Every Claude call surfaces its work — not just a spinner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499616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Transparent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5564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Users see exactly what Claude is doing at each step — parsing, scoring, generating.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734056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Reusable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9008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AgentActivity accepts a steps[] array, isRunning, and isDone flags — used across all 4 AI flows.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968496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Trust Through Visibility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2452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Showing step-by-step progress builds confidence that the AI is working, not stalled.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202936"/>
            <a:ext cx="182880" cy="18288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Animated Completion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58968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Each step gets a checkmark as it completes. The panel stays visible after finishing so results feel earned.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051560"/>
            <a:ext cx="54864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Key Engineering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Calibri"/>
              </a:rPr>
              <a:t>The non-obvious choices that make it work smoothly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557784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64008" cy="1737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173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localStorage for Context Passing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46504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Resume text and JD are cached in the browser so navigating from Analyzer → Matcher → Cover Letter is seamless — no re-uploading or re-pasting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57784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1737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173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Structured JSON from 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746504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All Claude responses are requested as typed JSON schemas so the frontend can render individual sections (scores, skill tags, recommendations) instead of raw 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00400"/>
            <a:ext cx="557784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64008" cy="1737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2918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  <a:latin typeface="Calibri"/>
              </a:rPr>
              <a:t>Single claude_service.py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621024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All Anthropic API calls live in one service file, making it easy to swap models, tune prompts, or add caching in a single place.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00400"/>
            <a:ext cx="557784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00400"/>
            <a:ext cx="64008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2918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Next.js API Proxy (catch-all route)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621024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A catch-all App Router route proxies /api/* to the FastAPI backend, eliminating CORS issues in production and keeping env vars server-side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5074920"/>
            <a:ext cx="557784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64008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16636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Calibri"/>
              </a:rPr>
              <a:t>SQLite → PostgreSQL in one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5495544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SQLAlchemy abstracts the database; swapping to Postgres for production requires changing only the connection string.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074920"/>
            <a:ext cx="5577840" cy="17373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5074920"/>
            <a:ext cx="64008" cy="17373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516636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  <a:latin typeface="Calibri"/>
              </a:rPr>
              <a:t>Composable AI 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495544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4A5E"/>
                </a:solidFill>
                <a:latin typeface="Calibri"/>
              </a:rPr>
              <a:t>The Job Matcher chains 4 distinct Claude calls (match → bullets → interview Q&amp;A → cover letter navigation) from a single result page without overwhelming the user.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Live Demo Walk-through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5B4FC"/>
                </a:solidFill>
                <a:latin typeface="Calibri"/>
              </a:rPr>
              <a:t>6 steps that showcase the full user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325880"/>
            <a:ext cx="5577840" cy="162763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64008" cy="162763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4173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1.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74650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Open the app — see empty state with stat cards and quick action shortcuts.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577840" cy="162763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64008" cy="16276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4173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2. Resume Analyzer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74650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Upload a PDF → watch agent steps animate → get ATS score, skills, recommendations.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154680"/>
            <a:ext cx="5577840" cy="162763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154680"/>
            <a:ext cx="64008" cy="16276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2461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3. Job Matcher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357530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Resume pre-filled → paste any JD → analyze → generate bullets &amp; interview Q&amp;A.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54680"/>
            <a:ext cx="5577840" cy="162763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154680"/>
            <a:ext cx="64008" cy="16276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2461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4. Save to Tracker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57530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Hit 'Save to Tracker' → fill company/role → job saved with AI match score in notes.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983480"/>
            <a:ext cx="5577840" cy="162763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983480"/>
            <a:ext cx="64008" cy="16276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0749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5. Job Tracker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540410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See the new entry → change status inline → use filter tabs to slice the list.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983480"/>
            <a:ext cx="5577840" cy="1627632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983480"/>
            <a:ext cx="64008" cy="162763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50749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C4899"/>
                </a:solidFill>
                <a:latin typeface="Calibri"/>
              </a:rPr>
              <a:t>6. Cover Letter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404104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Click Cover Letter icon on the row → context pre-filled → choose Creative → generate → copy.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172A"/>
                </a:solidFill>
                <a:latin typeface="Calibr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64748B"/>
                </a:solidFill>
                <a:latin typeface="Calibri"/>
              </a:rPr>
              <a:t>Production-ready, zero-cost hosting on free tiers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1161288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A5B4FC"/>
                </a:solidFill>
                <a:latin typeface="Calibri"/>
              </a:rPr>
              <a:t>AI Job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Built with Next.js 14  ·  FastAPI  ·  Claude claude-sonnet-4-6  ·  Tailwind CSS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069079"/>
            <a:ext cx="146304" cy="14630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977639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Resume Analyzer  — ATS scores, skill extraction, prioritized recommendations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617719"/>
            <a:ext cx="146304" cy="14630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526279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Job Tracker       — Full CRUD, inline status updates, bulk operations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166360"/>
            <a:ext cx="146304" cy="14630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50749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Job Matcher       — Fit score, gap analysis, AI bullets, interview prep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714999"/>
            <a:ext cx="146304" cy="146304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623559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  <a:latin typeface="Calibri"/>
              </a:rPr>
              <a:t>Cover Letter Gen  — 5 tones, pre-filled context, copy / download / 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943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200" b="1" i="0">
                <a:solidFill>
                  <a:srgbClr val="4F46E5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